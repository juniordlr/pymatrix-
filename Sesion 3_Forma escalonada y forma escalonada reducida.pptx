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handoutMasterIdLst>
    <p:handoutMasterId r:id="rId21"/>
  </p:handoutMasterIdLst>
  <p:sldIdLst>
    <p:sldId id="371" r:id="rId3"/>
    <p:sldId id="380" r:id="rId4"/>
    <p:sldId id="389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388" r:id="rId16"/>
    <p:sldId id="401" r:id="rId17"/>
    <p:sldId id="402" r:id="rId18"/>
    <p:sldId id="379" r:id="rId19"/>
    <p:sldId id="372" r:id="rId20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C20"/>
    <a:srgbClr val="D71920"/>
    <a:srgbClr val="C8B160"/>
    <a:srgbClr val="009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3" autoAdjust="0"/>
    <p:restoredTop sz="92475" autoAdjust="0"/>
  </p:normalViewPr>
  <p:slideViewPr>
    <p:cSldViewPr snapToGrid="0" showGuides="1">
      <p:cViewPr varScale="1">
        <p:scale>
          <a:sx n="74" d="100"/>
          <a:sy n="74" d="100"/>
        </p:scale>
        <p:origin x="6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7612F-F4F6-49E7-9E06-3D5220FEBB27}" type="datetimeFigureOut">
              <a:rPr lang="es-NI" smtClean="0"/>
              <a:t>26/8/2026</a:t>
            </a:fld>
            <a:endParaRPr lang="es-NI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84567-83D8-42DA-AC87-6626250FF12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76431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910"/>
            <a:ext cx="5306096" cy="14167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533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55" y="2253803"/>
            <a:ext cx="7187089" cy="191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rgbClr val="ED7D31"/>
                </a:solidFill>
              </a:rPr>
              <a:t>i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06" y="164707"/>
            <a:ext cx="5145908" cy="15180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490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841" y="2276388"/>
            <a:ext cx="7814318" cy="23052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3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14473" y="4346647"/>
            <a:ext cx="6390291" cy="76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NI" altLang="es-NI" sz="3000" b="1" dirty="0">
                <a:solidFill>
                  <a:prstClr val="white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José Andrés Munguía Cortez </a:t>
            </a:r>
            <a:endParaRPr lang="es-MX" altLang="es-NI" sz="3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/>
          <p:cNvSpPr txBox="1"/>
          <p:nvPr/>
        </p:nvSpPr>
        <p:spPr>
          <a:xfrm>
            <a:off x="3701737" y="2985575"/>
            <a:ext cx="6815762" cy="1569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NI" sz="4800" dirty="0">
                <a:solidFill>
                  <a:prstClr val="white">
                    <a:lumMod val="95000"/>
                  </a:prstClr>
                </a:solidFill>
              </a:rPr>
              <a:t>ALGEBRA LINEAL</a:t>
            </a:r>
            <a:endParaRPr lang="es-ES_tradnl" sz="4800" b="1" dirty="0">
              <a:ln w="12700">
                <a:solidFill>
                  <a:srgbClr val="5B9BD5"/>
                </a:solidFill>
                <a:prstDash val="solid"/>
              </a:ln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Franklin Gothic Std No. 2 Roman" charset="0"/>
              <a:cs typeface="Franklin Gothic Std No. 2 Roman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1" y="0"/>
            <a:ext cx="12191999" cy="10673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bg1"/>
                </a:solidFill>
              </a:rPr>
              <a:t>UNIDAD I  </a:t>
            </a:r>
            <a:r>
              <a:rPr lang="es-NI" sz="2800" b="1" dirty="0">
                <a:solidFill>
                  <a:schemeClr val="bg1"/>
                </a:solidFill>
              </a:rPr>
              <a:t>ECUACIONES LINEALES EN ALGEBRA LINEAL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0" y="4781849"/>
            <a:ext cx="676140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 </a:t>
            </a:r>
            <a:r>
              <a:rPr lang="es-NI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escalonada y forma escalonada reducida</a:t>
            </a: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0" y="4192965"/>
            <a:ext cx="117370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100" b="1" dirty="0" smtClean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Tema: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5520513"/>
            <a:ext cx="3670479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100" b="1" dirty="0" smtClean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Resultado </a:t>
            </a:r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aprendizaje: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" y="6119336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NI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Resuelve sistemas de ecuaciones lineales mediante métodos algebraicos y matriciales, aplicando los pasos lógicos en la solución de problemas matemáticos.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-1" y="1167764"/>
            <a:ext cx="7443990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Definición: </a:t>
            </a:r>
            <a:r>
              <a:rPr lang="es-MX" sz="22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 por filas y formas escalonadas  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0" y="1622738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fila o columna distinta de cero (o no nula) de una matriz será una fila o columna que contenga al menos un elemento diferente de cero; 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2423398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entrada principal de una fila se refiere a la entrada o el elemento diferente de cero que se encuentra más a la izquierda (en una fila distinta de cero).</a:t>
            </a:r>
          </a:p>
        </p:txBody>
      </p:sp>
    </p:spTree>
    <p:extLst>
      <p:ext uri="{BB962C8B-B14F-4D97-AF65-F5344CB8AC3E}">
        <p14:creationId xmlns:p14="http://schemas.microsoft.com/office/powerpoint/2010/main" val="408480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contenido 2"/>
          <p:cNvSpPr txBox="1">
            <a:spLocks/>
          </p:cNvSpPr>
          <p:nvPr/>
        </p:nvSpPr>
        <p:spPr>
          <a:xfrm>
            <a:off x="0" y="1141409"/>
            <a:ext cx="2704563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 Escalonada  </a:t>
            </a:r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0" y="1596383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2400"/>
            </a:pP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matriz rectangular está en forma escalonada (o forma escalonada por filas) si tiene las siguientes tres propiedades:</a:t>
            </a:r>
          </a:p>
        </p:txBody>
      </p:sp>
      <p:sp>
        <p:nvSpPr>
          <p:cNvPr id="7" name="Rectángulo 6"/>
          <p:cNvSpPr/>
          <p:nvPr/>
        </p:nvSpPr>
        <p:spPr>
          <a:xfrm>
            <a:off x="0" y="2968613"/>
            <a:ext cx="101614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4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Todas las diferentes de cero están arriba de las filas que solo contienen ceros. </a:t>
            </a:r>
          </a:p>
        </p:txBody>
      </p:sp>
      <p:sp>
        <p:nvSpPr>
          <p:cNvPr id="8" name="Rectángulo 7"/>
          <p:cNvSpPr/>
          <p:nvPr/>
        </p:nvSpPr>
        <p:spPr>
          <a:xfrm>
            <a:off x="0" y="3469754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4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entrada principal de una fila está en una columna a la derecha de la entrada principal de la fila superior. (Nota: las entradas principales forman un patrón escalonado; esto es, en forma de escalera)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38636" y="4586448"/>
            <a:ext cx="121533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4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columna todas las entradas debajo de la entrada principal son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ceros. Si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matriz de forma escalonada satisface las siguientes condiciones adicionales, entonces está en forma escalonada reducida (o forma escalonada reducida por filas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38636" y="5703142"/>
            <a:ext cx="71091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4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entrada principal en cada fila diferente de cero es 1.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0" y="6204283"/>
            <a:ext cx="97493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400"/>
            </a:pPr>
            <a:r>
              <a:rPr lang="es-MX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entrada principal 1 es la única entrada distinta de cero en su columna.</a:t>
            </a:r>
          </a:p>
        </p:txBody>
      </p:sp>
      <p:sp>
        <p:nvSpPr>
          <p:cNvPr id="14" name="Marcador de contenido 2"/>
          <p:cNvSpPr txBox="1">
            <a:spLocks/>
          </p:cNvSpPr>
          <p:nvPr/>
        </p:nvSpPr>
        <p:spPr>
          <a:xfrm>
            <a:off x="0" y="2408954"/>
            <a:ext cx="1996226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Propiedades:</a:t>
            </a:r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35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7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-2" y="1167764"/>
            <a:ext cx="1828801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1: 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0" y="1622738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3F3F3F"/>
              </a:buClr>
              <a:buSzPts val="2000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matrices “triangulares” están en forma escalonada. De hecho, la segunda matriz está en forma escalonada reducida.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613" y="2432637"/>
            <a:ext cx="2446784" cy="104185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193" y="2432637"/>
            <a:ext cx="2270313" cy="1041856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362451" y="276889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s-MX" dirty="0"/>
          </a:p>
        </p:txBody>
      </p:sp>
      <p:sp>
        <p:nvSpPr>
          <p:cNvPr id="8" name="Rectángulo 7"/>
          <p:cNvSpPr/>
          <p:nvPr/>
        </p:nvSpPr>
        <p:spPr>
          <a:xfrm>
            <a:off x="-32061" y="4090612"/>
            <a:ext cx="66970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000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siguientes matrices están en forma escalonada. 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288" y="4643123"/>
            <a:ext cx="2079487" cy="122322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1353" y="4643122"/>
            <a:ext cx="4028007" cy="1223229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0" y="6070316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000"/>
            </a:pP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entradas principales (■) pueden tener cualquier valor diferente de cero; las entradas con asterisco (*) pueden tener cualquier valor (incluyendo al cero).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3192053" y="5068449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es-MX" dirty="0"/>
          </a:p>
        </p:txBody>
      </p:sp>
      <p:sp>
        <p:nvSpPr>
          <p:cNvPr id="13" name="Marcador de contenido 2"/>
          <p:cNvSpPr txBox="1">
            <a:spLocks/>
          </p:cNvSpPr>
          <p:nvPr/>
        </p:nvSpPr>
        <p:spPr>
          <a:xfrm>
            <a:off x="0" y="3654471"/>
            <a:ext cx="1700012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2: 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89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6" grpId="0"/>
      <p:bldP spid="8" grpId="0"/>
      <p:bldP spid="3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-1" y="1167764"/>
            <a:ext cx="1700012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3: 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0" y="1622738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3F3F3F"/>
              </a:buClr>
              <a:buSzPts val="2000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siguientes matrices están en forma escalonada reducida porque las entradas principales son números 1, y hay ceros abajo y arriba de cada entrada principal 1.</a:t>
            </a:r>
          </a:p>
        </p:txBody>
      </p:sp>
      <p:sp>
        <p:nvSpPr>
          <p:cNvPr id="6" name="Rectángulo 5"/>
          <p:cNvSpPr/>
          <p:nvPr/>
        </p:nvSpPr>
        <p:spPr>
          <a:xfrm>
            <a:off x="5153968" y="325473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s-MX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503" y="2785598"/>
            <a:ext cx="2217983" cy="1307617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356" y="2785597"/>
            <a:ext cx="4395819" cy="1307617"/>
          </a:xfrm>
          <a:prstGeom prst="rect">
            <a:avLst/>
          </a:prstGeom>
        </p:spPr>
      </p:pic>
      <p:sp>
        <p:nvSpPr>
          <p:cNvPr id="14" name="Marcador de contenido 2"/>
          <p:cNvSpPr txBox="1">
            <a:spLocks/>
          </p:cNvSpPr>
          <p:nvPr/>
        </p:nvSpPr>
        <p:spPr>
          <a:xfrm>
            <a:off x="-1" y="4419397"/>
            <a:ext cx="2727504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Definición: </a:t>
            </a:r>
            <a:r>
              <a:rPr lang="es-ES" sz="22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Pivote</a:t>
            </a:r>
            <a:endParaRPr lang="es-MX" sz="22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0" y="4874371"/>
                <a:ext cx="121920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2400"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Una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posición pivote en una matriz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ubicación en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que corresponde a una principal en la forma escalonada reducida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Una columna pivote es una columna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que contiene una posición pivote.</a:t>
                </a:r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74371"/>
                <a:ext cx="12192000" cy="1015663"/>
              </a:xfrm>
              <a:prstGeom prst="rect">
                <a:avLst/>
              </a:prstGeom>
              <a:blipFill rotWithShape="0">
                <a:blip r:embed="rId4"/>
                <a:stretch>
                  <a:fillRect l="-500" t="-3012" r="-500" b="-108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12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6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-1" y="1167764"/>
            <a:ext cx="2266683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Practico: </a:t>
            </a:r>
            <a:endParaRPr lang="es-MX" sz="18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8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8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18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0" y="1521287"/>
                <a:ext cx="121920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3F3F3F"/>
                  </a:buClr>
                  <a:buSzPts val="2000"/>
                </a:pPr>
                <a:r>
                  <a:rPr lang="es-MX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Reduzca </a:t>
                </a:r>
                <a:r>
                  <a:rPr lang="es-MX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por filas la matriz </a:t>
                </a:r>
                <a14:m>
                  <m:oMath xmlns:m="http://schemas.openxmlformats.org/officeDocument/2006/math">
                    <m:r>
                      <a:rPr lang="es-MX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que se muestra a continuación hasta la forma escalonada, y localice las columnas pivote de </a:t>
                </a:r>
                <a14:m>
                  <m:oMath xmlns:m="http://schemas.openxmlformats.org/officeDocument/2006/math">
                    <m:r>
                      <a:rPr lang="es-MX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21287"/>
                <a:ext cx="12192000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400" t="-5660" r="-400" b="-1415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433" y="2153521"/>
            <a:ext cx="2652470" cy="1080191"/>
          </a:xfrm>
          <a:prstGeom prst="rect">
            <a:avLst/>
          </a:prstGeom>
        </p:spPr>
      </p:pic>
      <p:sp>
        <p:nvSpPr>
          <p:cNvPr id="12" name="Marcador de contenido 2"/>
          <p:cNvSpPr txBox="1">
            <a:spLocks/>
          </p:cNvSpPr>
          <p:nvPr/>
        </p:nvSpPr>
        <p:spPr>
          <a:xfrm>
            <a:off x="0" y="3122699"/>
            <a:ext cx="1390918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Solución: </a:t>
            </a:r>
            <a:endParaRPr lang="es-MX" sz="18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8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8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18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01" y="3653476"/>
            <a:ext cx="2928744" cy="119270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072" y="3549416"/>
            <a:ext cx="2040325" cy="140082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418" y="3484997"/>
            <a:ext cx="2837455" cy="152965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59" y="5372176"/>
            <a:ext cx="2027602" cy="1075413"/>
          </a:xfrm>
          <a:prstGeom prst="rect">
            <a:avLst/>
          </a:prstGeom>
        </p:spPr>
      </p:pic>
      <p:pic>
        <p:nvPicPr>
          <p:cNvPr id="17" name="Google Shape;156;p17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3620430" y="5090180"/>
            <a:ext cx="2501607" cy="1639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57;p17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289462" y="5177309"/>
            <a:ext cx="4039394" cy="14651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08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-2" y="1167764"/>
            <a:ext cx="4752305" cy="454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Algoritmo </a:t>
            </a:r>
            <a:r>
              <a:rPr lang="es-MX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reducción por filas</a:t>
            </a: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0" y="1622738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</a:t>
            </a:r>
            <a:r>
              <a:rPr lang="es-MX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 </a:t>
            </a:r>
            <a:r>
              <a:rPr lang="es-MX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inicia con la columna diferente de cero del extremo izquierdo. Esta es una columna pivote. La posición pivote se ubica en la parte superior.</a:t>
            </a:r>
          </a:p>
        </p:txBody>
      </p:sp>
      <p:pic>
        <p:nvPicPr>
          <p:cNvPr id="5" name="Google Shape;16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669380" y="2465756"/>
            <a:ext cx="3349606" cy="12433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ángulo 5"/>
          <p:cNvSpPr/>
          <p:nvPr/>
        </p:nvSpPr>
        <p:spPr>
          <a:xfrm>
            <a:off x="0" y="3813469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2000"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2: </a:t>
            </a: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Seleccione </a:t>
            </a:r>
            <a:r>
              <a:rPr lang="es-MX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pivote una entrada diferente de cero en la columna pivote. Si es necesario, intercambie filas para mover esta entrada a la posición pivote.</a:t>
            </a:r>
          </a:p>
        </p:txBody>
      </p:sp>
      <p:pic>
        <p:nvPicPr>
          <p:cNvPr id="7" name="Google Shape;165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910972" y="4656487"/>
            <a:ext cx="3108014" cy="1347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922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184856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000"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3: </a:t>
            </a: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Utilice </a:t>
            </a:r>
            <a:r>
              <a:rPr lang="es-MX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operaciones de remplazo de filas para crear ceros en todas las posiciones ubicadas debajo del pivote.</a:t>
            </a:r>
          </a:p>
        </p:txBody>
      </p:sp>
      <p:sp>
        <p:nvSpPr>
          <p:cNvPr id="6" name="Rectángulo 5"/>
          <p:cNvSpPr/>
          <p:nvPr/>
        </p:nvSpPr>
        <p:spPr>
          <a:xfrm>
            <a:off x="0" y="3401346"/>
            <a:ext cx="1219200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000"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4: </a:t>
            </a:r>
            <a:r>
              <a:rPr lang="es-MX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Cubra </a:t>
            </a:r>
            <a:r>
              <a:rPr lang="es-MX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 ignore) la fila que contiene la posición pivote y cubra todas las filas, si las hay, por encima de esta. Aplique los pasos 1 a 3 a la </a:t>
            </a:r>
            <a:r>
              <a:rPr lang="es-MX" sz="2100" b="1" dirty="0" err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submatriz</a:t>
            </a:r>
            <a:r>
              <a:rPr lang="es-MX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restante. Repita el proceso hasta que no haya filas diferentes de cero por modificar</a:t>
            </a:r>
          </a:p>
        </p:txBody>
      </p:sp>
      <p:pic>
        <p:nvPicPr>
          <p:cNvPr id="8" name="Google Shape;166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735955" y="2027874"/>
            <a:ext cx="3411819" cy="1269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73;p1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735955" y="4567529"/>
            <a:ext cx="3679891" cy="16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74;p1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585656" y="4567529"/>
            <a:ext cx="3889420" cy="15885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712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184856"/>
            <a:ext cx="1219200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000"/>
            </a:pPr>
            <a:r>
              <a:rPr lang="es-MX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5: </a:t>
            </a:r>
            <a:r>
              <a:rPr lang="es-MX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Empezando </a:t>
            </a:r>
            <a:r>
              <a:rPr lang="es-MX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la posición pivote del extremo derecho y trabajando hacia arriba y hacia la izquierda, genere ceros arriba de cada pivote. Si un pivote no es 1, conviértalo en 1 mediante una operación de escalamiento</a:t>
            </a:r>
            <a:r>
              <a:rPr lang="es-MX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054" y="2352269"/>
            <a:ext cx="2830123" cy="97914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820" y="2404834"/>
            <a:ext cx="1929091" cy="29383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820" y="2778847"/>
            <a:ext cx="2123994" cy="225059"/>
          </a:xfrm>
          <a:prstGeom prst="rect">
            <a:avLst/>
          </a:prstGeom>
        </p:spPr>
      </p:pic>
      <p:pic>
        <p:nvPicPr>
          <p:cNvPr id="14" name="Google Shape;174;p1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96214" y="2319124"/>
            <a:ext cx="3206840" cy="1182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4616" y="3607181"/>
            <a:ext cx="2561236" cy="910955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5852" y="3892879"/>
            <a:ext cx="1314450" cy="266700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15" y="3576473"/>
            <a:ext cx="2717175" cy="940065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81" y="4705326"/>
            <a:ext cx="2565041" cy="912309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616" y="4623720"/>
            <a:ext cx="2715078" cy="859548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467" y="4636295"/>
            <a:ext cx="1276350" cy="200025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12" y="5806423"/>
            <a:ext cx="2715078" cy="859548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2131" y="5806423"/>
            <a:ext cx="2717689" cy="859548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9820" y="5900000"/>
            <a:ext cx="140970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6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-1" y="1167764"/>
            <a:ext cx="4481849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Soluciones de sistemas lineales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0" y="1622738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2400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Suponga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la matriz aumentada de un sistema lineal se transformó a la forma escalonada reducida equivalente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3453708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400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Existen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 variables porque la matriz aumentada tiene cuatro columnas. El sistema de ecuaciones asociado es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775" y="2330624"/>
            <a:ext cx="2417137" cy="9668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/>
              <p:cNvSpPr txBox="1">
                <a:spLocks/>
              </p:cNvSpPr>
              <p:nvPr/>
            </p:nvSpPr>
            <p:spPr>
              <a:xfrm>
                <a:off x="3227179" y="4090336"/>
                <a:ext cx="2207706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−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sSub>
                        <m:sSubPr>
                          <m:ctrlP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</m:oMath>
                  </m:oMathPara>
                </a14:m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179" y="4090336"/>
                <a:ext cx="2207706" cy="4549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contenido 2"/>
              <p:cNvSpPr txBox="1">
                <a:spLocks/>
              </p:cNvSpPr>
              <p:nvPr/>
            </p:nvSpPr>
            <p:spPr>
              <a:xfrm>
                <a:off x="3633886" y="4467195"/>
                <a:ext cx="2071455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</m:oMath>
                  </m:oMathPara>
                </a14:m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886" y="4467195"/>
                <a:ext cx="2071455" cy="4549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Marcador de contenido 2"/>
              <p:cNvSpPr txBox="1">
                <a:spLocks/>
              </p:cNvSpPr>
              <p:nvPr/>
            </p:nvSpPr>
            <p:spPr>
              <a:xfrm>
                <a:off x="4481848" y="4850911"/>
                <a:ext cx="1074364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848" y="4850911"/>
                <a:ext cx="1074364" cy="4549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-1" y="5290002"/>
                <a:ext cx="121920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3F3F3F"/>
                  </a:buClr>
                  <a:buSzPts val="2400"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correspondientes a las columnas pivote se conocen como </a:t>
                </a:r>
                <a:r>
                  <a:rPr lang="es-MX" sz="2000" b="1" i="1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variables </a:t>
                </a:r>
                <a:r>
                  <a:rPr lang="es-MX" sz="2000" b="1" i="1" u="sng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básicas</a:t>
                </a: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otra </a:t>
                </a: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 denomina </a:t>
                </a:r>
                <a:r>
                  <a:rPr lang="es-MX" sz="2000" b="1" i="1" u="sng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variable libre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290002"/>
                <a:ext cx="12192000" cy="707886"/>
              </a:xfrm>
              <a:prstGeom prst="rect">
                <a:avLst/>
              </a:prstGeom>
              <a:blipFill rotWithShape="0">
                <a:blip r:embed="rId6"/>
                <a:stretch>
                  <a:fillRect l="-500" t="-4310" r="-500" b="-155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arcador de contenido 2"/>
              <p:cNvSpPr txBox="1">
                <a:spLocks/>
              </p:cNvSpPr>
              <p:nvPr/>
            </p:nvSpPr>
            <p:spPr>
              <a:xfrm>
                <a:off x="5924283" y="5782115"/>
                <a:ext cx="1983346" cy="10758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MX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MX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MX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  <m:sSub>
                                <m:sSubPr>
                                  <m:ctrlPr>
                                    <a:rPr lang="es-NI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MX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sz="20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NI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sz="2000" b="1" i="1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s-MX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NI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es-NI" sz="2000" b="1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s-NI" sz="2000" b="1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s-NI" sz="2000" b="1" i="1" smtClean="0">
                                  <a:latin typeface="Cambria Math" panose="02040503050406030204" pitchFamily="18" charset="0"/>
                                </a:rPr>
                                <m:t>𝒆𝒔</m:t>
                              </m:r>
                              <m:r>
                                <a:rPr lang="es-NI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NI" sz="2000" b="1" i="1" smtClean="0">
                                  <a:latin typeface="Cambria Math" panose="02040503050406030204" pitchFamily="18" charset="0"/>
                                </a:rPr>
                                <m:t>𝒍𝒊𝒃𝒓𝒆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283" y="5782115"/>
                <a:ext cx="1983346" cy="1075885"/>
              </a:xfrm>
              <a:prstGeom prst="rect">
                <a:avLst/>
              </a:prstGeom>
              <a:blipFill rotWithShape="0">
                <a:blip r:embed="rId7"/>
                <a:stretch>
                  <a:fillRect t="-56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969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2"/>
          <p:cNvSpPr txBox="1">
            <a:spLocks/>
          </p:cNvSpPr>
          <p:nvPr/>
        </p:nvSpPr>
        <p:spPr>
          <a:xfrm>
            <a:off x="-1" y="1167764"/>
            <a:ext cx="2318198" cy="4549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Practico.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0" y="1609859"/>
            <a:ext cx="103546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2400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Encuentre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solución general del sistema lineal cuya matriz aumentada se redujo 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33" y="2206500"/>
            <a:ext cx="3287199" cy="959978"/>
          </a:xfrm>
          <a:prstGeom prst="rect">
            <a:avLst/>
          </a:prstGeom>
        </p:spPr>
      </p:pic>
      <p:sp>
        <p:nvSpPr>
          <p:cNvPr id="6" name="Marcador de contenido 2"/>
          <p:cNvSpPr txBox="1">
            <a:spLocks/>
          </p:cNvSpPr>
          <p:nvPr/>
        </p:nvSpPr>
        <p:spPr>
          <a:xfrm>
            <a:off x="-2" y="3363009"/>
            <a:ext cx="1493951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Solución:</a:t>
            </a:r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2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49" y="3650438"/>
            <a:ext cx="3081138" cy="89980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968" y="3648517"/>
            <a:ext cx="2919864" cy="85270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087" y="3971874"/>
            <a:ext cx="712881" cy="253087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904" y="4709185"/>
            <a:ext cx="2977280" cy="86947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7968" y="4709185"/>
            <a:ext cx="2919864" cy="86947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1" y="5001055"/>
            <a:ext cx="712881" cy="253087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904" y="5730356"/>
            <a:ext cx="2965229" cy="882979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0" y="5991704"/>
            <a:ext cx="712881" cy="253087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1563" y="5730355"/>
            <a:ext cx="2896270" cy="77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6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-24684" y="4531130"/>
            <a:ext cx="57310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columnas pivote de la matriz son 1, 3 y 5,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0" y="2749083"/>
                <a:ext cx="568173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buClr>
                    <a:srgbClr val="3F3F3F"/>
                  </a:buClr>
                  <a:buSzPts val="2400"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Así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que las variables básicas son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49083"/>
                <a:ext cx="5681730" cy="400110"/>
              </a:xfrm>
              <a:prstGeom prst="rect">
                <a:avLst/>
              </a:prstGeom>
              <a:blipFill rotWithShape="0">
                <a:blip r:embed="rId2"/>
                <a:stretch>
                  <a:fillRect l="-1073" t="-7576" b="-2727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/>
              <p:cNvSpPr txBox="1">
                <a:spLocks/>
              </p:cNvSpPr>
              <p:nvPr/>
            </p:nvSpPr>
            <p:spPr>
              <a:xfrm>
                <a:off x="3411776" y="3315580"/>
                <a:ext cx="3122106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sSub>
                        <m:sSubPr>
                          <m:ctrlP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+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sSub>
                        <m:sSubPr>
                          <m:ctrlP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=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776" y="3315580"/>
                <a:ext cx="3122106" cy="4549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contenido 2"/>
              <p:cNvSpPr txBox="1">
                <a:spLocks/>
              </p:cNvSpPr>
              <p:nvPr/>
            </p:nvSpPr>
            <p:spPr>
              <a:xfrm>
                <a:off x="4462426" y="3695868"/>
                <a:ext cx="2071455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sSub>
                        <m:sSubPr>
                          <m:ctrlP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=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</m:oMath>
                  </m:oMathPara>
                </a14:m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26" y="3695868"/>
                <a:ext cx="2071455" cy="45497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Marcador de contenido 2"/>
              <p:cNvSpPr txBox="1">
                <a:spLocks/>
              </p:cNvSpPr>
              <p:nvPr/>
            </p:nvSpPr>
            <p:spPr>
              <a:xfrm>
                <a:off x="5459517" y="4007191"/>
                <a:ext cx="1074364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sz="18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sz="18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𝟕</m:t>
                      </m:r>
                    </m:oMath>
                  </m:oMathPara>
                </a14:m>
                <a:endParaRPr lang="es-MX" sz="18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517" y="4007191"/>
                <a:ext cx="1074364" cy="45497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oogle Shape;196;p21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681730" y="4657694"/>
            <a:ext cx="2520439" cy="2004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4712" y="1699026"/>
            <a:ext cx="2896270" cy="775787"/>
          </a:xfrm>
          <a:prstGeom prst="rect">
            <a:avLst/>
          </a:prstGeom>
        </p:spPr>
      </p:pic>
      <p:sp>
        <p:nvSpPr>
          <p:cNvPr id="14" name="Rectángulo 13"/>
          <p:cNvSpPr/>
          <p:nvPr/>
        </p:nvSpPr>
        <p:spPr>
          <a:xfrm>
            <a:off x="0" y="1149761"/>
            <a:ext cx="57064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3F3F3F"/>
              </a:buClr>
              <a:buSzPts val="2000"/>
            </a:pP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matriz está </a:t>
            </a: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forma </a:t>
            </a:r>
            <a:r>
              <a:rPr lang="es-MX" sz="20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escalonada reducida. </a:t>
            </a:r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93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1" y="427478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3600"/>
            </a:pPr>
            <a:r>
              <a:rPr lang="es-MX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endParaRPr lang="es-MX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3991768" y="1197609"/>
            <a:ext cx="42116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a resolver en clase</a:t>
            </a:r>
            <a:endParaRPr lang="es-E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175" y="1720215"/>
            <a:ext cx="1218882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s-ES" b="1" dirty="0" err="1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Resuelva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lang="en-US" altLang="es-ES" b="1" dirty="0" err="1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siguientes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ES" b="1" dirty="0" err="1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sistemas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ecuaciones lineales aplicando operaciones elementales de fila hasta obtener la matriz aumentada en forma escalonada reducida. Con base en el resultado:</a:t>
            </a:r>
            <a:r>
              <a:rPr 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Rectángulo 4"/>
          <p:cNvSpPr/>
          <p:nvPr/>
        </p:nvSpPr>
        <p:spPr>
          <a:xfrm>
            <a:off x="0" y="2365375"/>
            <a:ext cx="842327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alt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Indique las variables b</a:t>
            </a:r>
            <a:r>
              <a:rPr lang="en-U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sicas y la(s) variable(s) libre(s).</a:t>
            </a:r>
          </a:p>
          <a:p>
            <a:pPr algn="just"/>
            <a:r>
              <a:rPr lang="es-ES" alt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n-U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ñ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 en qu</a:t>
            </a:r>
            <a:r>
              <a:rPr lang="en-U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columnas se encuentran los pivotes (encierre los pivotes).</a:t>
            </a:r>
          </a:p>
          <a:p>
            <a:pPr algn="just"/>
            <a:r>
              <a:rPr lang="es-ES" alt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  <a:r>
              <a:rPr lang="es-E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si el sistema es consistente o inconsistente.</a:t>
            </a:r>
          </a:p>
          <a:p>
            <a:pPr algn="just"/>
            <a:r>
              <a:rPr lang="es-ES" alt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</a:t>
            </a:r>
            <a:r>
              <a:rPr lang="es-E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Escriba la soluci</a:t>
            </a:r>
            <a:r>
              <a:rPr lang="en-U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general del sistema (parametrizada).</a:t>
            </a:r>
          </a:p>
        </p:txBody>
      </p:sp>
      <p:sp>
        <p:nvSpPr>
          <p:cNvPr id="21" name="Rectángulo 20"/>
          <p:cNvSpPr/>
          <p:nvPr/>
        </p:nvSpPr>
        <p:spPr>
          <a:xfrm>
            <a:off x="4080840" y="4325359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3600"/>
            </a:pPr>
            <a:r>
              <a:rPr lang="es-MX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endParaRPr lang="es-MX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8298487" y="428626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3600"/>
            </a:pPr>
            <a:r>
              <a:rPr lang="es-MX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endParaRPr lang="es-MX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441147" y="3909772"/>
                <a:ext cx="26209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47" y="3909772"/>
                <a:ext cx="2620974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347731" y="4246552"/>
                <a:ext cx="2896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31" y="4246552"/>
                <a:ext cx="289669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441147" y="4592069"/>
                <a:ext cx="31402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47" y="4592069"/>
                <a:ext cx="3140283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347731" y="4961401"/>
                <a:ext cx="35538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𝟗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31" y="4961401"/>
                <a:ext cx="3553857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4399950" y="3910715"/>
                <a:ext cx="27588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950" y="3910715"/>
                <a:ext cx="2758832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4537808" y="4286264"/>
                <a:ext cx="26209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808" y="4286264"/>
                <a:ext cx="2620974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/>
              <p:cNvSpPr/>
              <p:nvPr/>
            </p:nvSpPr>
            <p:spPr>
              <a:xfrm>
                <a:off x="4306965" y="4671819"/>
                <a:ext cx="30345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𝟖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1" name="Rectá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965" y="4671819"/>
                <a:ext cx="3034549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4399950" y="5018279"/>
                <a:ext cx="3416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𝟕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950" y="5018279"/>
                <a:ext cx="3416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8877493" y="3877220"/>
                <a:ext cx="27588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493" y="3877220"/>
                <a:ext cx="2758832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8739634" y="4279104"/>
                <a:ext cx="30345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𝟖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9634" y="4279104"/>
                <a:ext cx="3034549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8877492" y="4648436"/>
                <a:ext cx="27588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492" y="4648436"/>
                <a:ext cx="2758832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ángulo 15"/>
              <p:cNvSpPr/>
              <p:nvPr/>
            </p:nvSpPr>
            <p:spPr>
              <a:xfrm>
                <a:off x="10256908" y="4961401"/>
                <a:ext cx="1444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6908" y="4961401"/>
                <a:ext cx="1444498" cy="369332"/>
              </a:xfrm>
              <a:prstGeom prst="rect">
                <a:avLst/>
              </a:prstGeom>
              <a:blipFill rotWithShape="0"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ángulo 16"/>
              <p:cNvSpPr/>
              <p:nvPr/>
            </p:nvSpPr>
            <p:spPr>
              <a:xfrm>
                <a:off x="9810376" y="5330733"/>
                <a:ext cx="19638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376" y="5330733"/>
                <a:ext cx="1963807" cy="369332"/>
              </a:xfrm>
              <a:prstGeom prst="rect">
                <a:avLst/>
              </a:prstGeom>
              <a:blipFill rotWithShape="0"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4" grpId="0"/>
      <p:bldP spid="5" grpId="0"/>
      <p:bldP spid="21" grpId="0"/>
      <p:bldP spid="23" grpId="0"/>
      <p:bldP spid="2" grpId="0"/>
      <p:bldP spid="3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456688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3600"/>
            </a:pPr>
            <a:r>
              <a:rPr lang="es-MX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endParaRPr lang="es-MX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2984321" y="1162254"/>
            <a:ext cx="570591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 #1: </a:t>
            </a:r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para Asignación</a:t>
            </a:r>
          </a:p>
        </p:txBody>
      </p:sp>
      <p:sp>
        <p:nvSpPr>
          <p:cNvPr id="4" name="Rectángulo 3"/>
          <p:cNvSpPr/>
          <p:nvPr/>
        </p:nvSpPr>
        <p:spPr>
          <a:xfrm>
            <a:off x="3175" y="1720215"/>
            <a:ext cx="1218882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s-ES" b="1" dirty="0" err="1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Resuelva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lang="en-US" altLang="es-ES" b="1" dirty="0" err="1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siguientes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ES" b="1" dirty="0" err="1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sistemas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ecuaciones lineales aplicando operaciones elementales de fila hasta obtener la matriz aumentada en forma escalonada reducida. Con base en el resultado:</a:t>
            </a:r>
            <a:r>
              <a:rPr 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Rectángulo 4"/>
          <p:cNvSpPr/>
          <p:nvPr/>
        </p:nvSpPr>
        <p:spPr>
          <a:xfrm>
            <a:off x="0" y="2365375"/>
            <a:ext cx="842327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alt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Indique las variables b</a:t>
            </a:r>
            <a:r>
              <a:rPr lang="en-U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sicas y la(s) variable(s) libre(s).</a:t>
            </a:r>
          </a:p>
          <a:p>
            <a:pPr algn="just"/>
            <a:r>
              <a:rPr lang="es-ES" alt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 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n-U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ñ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 en qu</a:t>
            </a:r>
            <a:r>
              <a:rPr lang="en-U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columnas se encuentran los pivotes (encierre los pivotes).</a:t>
            </a:r>
          </a:p>
          <a:p>
            <a:pPr algn="just"/>
            <a:r>
              <a:rPr lang="es-ES" alt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  <a:r>
              <a:rPr lang="es-E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si el sistema es consistente o inconsistente.</a:t>
            </a:r>
          </a:p>
          <a:p>
            <a:pPr algn="just"/>
            <a:r>
              <a:rPr lang="es-ES" alt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</a:t>
            </a:r>
            <a:r>
              <a:rPr lang="es-E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Escriba la soluci</a:t>
            </a:r>
            <a:r>
              <a:rPr lang="en-US" alt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general del sistema (parametrizada).</a:t>
            </a:r>
          </a:p>
        </p:txBody>
      </p:sp>
      <p:sp>
        <p:nvSpPr>
          <p:cNvPr id="23" name="Rectángulo 22"/>
          <p:cNvSpPr/>
          <p:nvPr/>
        </p:nvSpPr>
        <p:spPr>
          <a:xfrm>
            <a:off x="4822645" y="469998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3600"/>
            </a:pPr>
            <a:r>
              <a:rPr lang="es-MX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endParaRPr lang="es-MX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363347" y="3949607"/>
                <a:ext cx="26209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47" y="3949607"/>
                <a:ext cx="2620974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1539823" y="4318939"/>
                <a:ext cx="1444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823" y="4318939"/>
                <a:ext cx="1444498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1020514" y="4688271"/>
                <a:ext cx="19638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514" y="4688271"/>
                <a:ext cx="1963807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1401965" y="5057603"/>
                <a:ext cx="15823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965" y="5057603"/>
                <a:ext cx="1582356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2059132" y="5426935"/>
                <a:ext cx="9251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132" y="5426935"/>
                <a:ext cx="925189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5274548" y="3949607"/>
                <a:ext cx="27588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4548" y="3949607"/>
                <a:ext cx="2758832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/>
              <p:cNvSpPr/>
              <p:nvPr/>
            </p:nvSpPr>
            <p:spPr>
              <a:xfrm>
                <a:off x="5242799" y="4318939"/>
                <a:ext cx="31724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𝟏𝟐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799" y="4318939"/>
                <a:ext cx="3172407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ángulo 12"/>
              <p:cNvSpPr/>
              <p:nvPr/>
            </p:nvSpPr>
            <p:spPr>
              <a:xfrm>
                <a:off x="6334662" y="4688271"/>
                <a:ext cx="19638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662" y="4688271"/>
                <a:ext cx="1963807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/>
              <p:cNvSpPr/>
              <p:nvPr/>
            </p:nvSpPr>
            <p:spPr>
              <a:xfrm>
                <a:off x="6393030" y="5057603"/>
                <a:ext cx="19638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𝟑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030" y="5057603"/>
                <a:ext cx="1963807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/>
              <p:cNvSpPr/>
              <p:nvPr/>
            </p:nvSpPr>
            <p:spPr>
              <a:xfrm>
                <a:off x="5242799" y="5442955"/>
                <a:ext cx="34160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𝟒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</m:e>
                        <m:sub>
                          <m:r>
                            <a:rPr lang="es-NI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𝟓</m:t>
                          </m:r>
                        </m:sub>
                      </m:sSub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b="1" i="1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799" y="5442955"/>
                <a:ext cx="3416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292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4" grpId="0"/>
      <p:bldP spid="5" grpId="0"/>
      <p:bldP spid="23" grpId="0"/>
      <p:bldP spid="2" grpId="0"/>
      <p:bldP spid="3" grpId="0"/>
      <p:bldP spid="6" grpId="0"/>
      <p:bldP spid="7" grpId="0"/>
      <p:bldP spid="8" grpId="0"/>
      <p:bldP spid="10" grpId="0"/>
      <p:bldP spid="12" grpId="0"/>
      <p:bldP spid="13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279792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3600"/>
            </a:pPr>
            <a:r>
              <a:rPr lang="es-MX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endParaRPr lang="es-MX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2984321" y="1162254"/>
            <a:ext cx="570591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 #2: </a:t>
            </a:r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 para Asignación</a:t>
            </a:r>
          </a:p>
        </p:txBody>
      </p:sp>
      <p:sp>
        <p:nvSpPr>
          <p:cNvPr id="4" name="Rectángulo 3"/>
          <p:cNvSpPr/>
          <p:nvPr/>
        </p:nvSpPr>
        <p:spPr>
          <a:xfrm>
            <a:off x="3175" y="1720215"/>
            <a:ext cx="121888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los ejercicios 1 y 2, determine cuales matrices están en forma escalonada reducida y cuales se encuentran solo en forma escalonada.</a:t>
            </a:r>
            <a:endParaRPr lang="es-ES" b="1" dirty="0" smtClean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0" y="419009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0"/>
              </a:spcBef>
              <a:buClr>
                <a:srgbClr val="3F3F3F"/>
              </a:buClr>
              <a:buSzPts val="3600"/>
            </a:pPr>
            <a:r>
              <a:rPr lang="es-MX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endParaRPr lang="es-MX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ángulo 9"/>
              <p:cNvSpPr/>
              <p:nvPr/>
            </p:nvSpPr>
            <p:spPr>
              <a:xfrm>
                <a:off x="585447" y="2559109"/>
                <a:ext cx="1946174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3600"/>
                </a:pPr>
                <a:r>
                  <a:rPr lang="es-MX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a)</a:t>
                </a:r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47" y="2559109"/>
                <a:ext cx="1946174" cy="824906"/>
              </a:xfrm>
              <a:prstGeom prst="rect">
                <a:avLst/>
              </a:prstGeom>
              <a:blipFill rotWithShape="0">
                <a:blip r:embed="rId2"/>
                <a:stretch>
                  <a:fillRect l="-250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ángulo 11"/>
              <p:cNvSpPr/>
              <p:nvPr/>
            </p:nvSpPr>
            <p:spPr>
              <a:xfrm>
                <a:off x="2694693" y="2570138"/>
                <a:ext cx="2032736" cy="8469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3600"/>
                </a:pPr>
                <a:r>
                  <a:rPr lang="es-MX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Rectángulo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693" y="2570138"/>
                <a:ext cx="2032736" cy="846963"/>
              </a:xfrm>
              <a:prstGeom prst="rect">
                <a:avLst/>
              </a:prstGeom>
              <a:blipFill rotWithShape="0">
                <a:blip r:embed="rId3"/>
                <a:stretch>
                  <a:fillRect l="-240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ángulo 12"/>
              <p:cNvSpPr/>
              <p:nvPr/>
            </p:nvSpPr>
            <p:spPr>
              <a:xfrm>
                <a:off x="4855824" y="2426188"/>
                <a:ext cx="1956561" cy="1112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3600"/>
                </a:pPr>
                <a:r>
                  <a:rPr lang="es-MX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Rectángulo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824" y="2426188"/>
                <a:ext cx="1956561" cy="1112805"/>
              </a:xfrm>
              <a:prstGeom prst="rect">
                <a:avLst/>
              </a:prstGeom>
              <a:blipFill rotWithShape="0">
                <a:blip r:embed="rId4"/>
                <a:stretch>
                  <a:fillRect l="-280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ángulo 13"/>
              <p:cNvSpPr/>
              <p:nvPr/>
            </p:nvSpPr>
            <p:spPr>
              <a:xfrm>
                <a:off x="7088501" y="2433900"/>
                <a:ext cx="2411814" cy="11185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3600"/>
                </a:pPr>
                <a:r>
                  <a:rPr lang="es-MX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s-MX" b="1" i="1" smtClean="0">
                                                      <a:solidFill>
                                                        <a:schemeClr val="accent3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s-NI" b="1" i="1" smtClean="0">
                                                      <a:solidFill>
                                                        <a:schemeClr val="accent3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𝟐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s-NI" b="1" i="1" smtClean="0">
                                                      <a:solidFill>
                                                        <a:schemeClr val="accent3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𝟑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𝟑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s-NI" b="1" i="1" smtClean="0">
                                                      <a:solidFill>
                                                        <a:schemeClr val="accent3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𝟎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𝟒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Rectángulo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501" y="2433900"/>
                <a:ext cx="2411814" cy="1118511"/>
              </a:xfrm>
              <a:prstGeom prst="rect">
                <a:avLst/>
              </a:prstGeom>
              <a:blipFill rotWithShape="0">
                <a:blip r:embed="rId5"/>
                <a:stretch>
                  <a:fillRect l="-227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ángulo 14"/>
              <p:cNvSpPr/>
              <p:nvPr/>
            </p:nvSpPr>
            <p:spPr>
              <a:xfrm>
                <a:off x="404277" y="3948315"/>
                <a:ext cx="2019912" cy="8469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3600"/>
                </a:pPr>
                <a:r>
                  <a:rPr lang="es-MX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Rectá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77" y="3948315"/>
                <a:ext cx="2019912" cy="846963"/>
              </a:xfrm>
              <a:prstGeom prst="rect">
                <a:avLst/>
              </a:prstGeom>
              <a:blipFill rotWithShape="0">
                <a:blip r:embed="rId6"/>
                <a:stretch>
                  <a:fillRect l="-241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ángulo 15"/>
              <p:cNvSpPr/>
              <p:nvPr/>
            </p:nvSpPr>
            <p:spPr>
              <a:xfrm>
                <a:off x="2550392" y="3959344"/>
                <a:ext cx="2032736" cy="8469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3600"/>
                </a:pPr>
                <a:r>
                  <a:rPr lang="es-MX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" name="Rectá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392" y="3959344"/>
                <a:ext cx="2032736" cy="846963"/>
              </a:xfrm>
              <a:prstGeom prst="rect">
                <a:avLst/>
              </a:prstGeom>
              <a:blipFill rotWithShape="0">
                <a:blip r:embed="rId7"/>
                <a:stretch>
                  <a:fillRect l="-239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ángulo 16"/>
              <p:cNvSpPr/>
              <p:nvPr/>
            </p:nvSpPr>
            <p:spPr>
              <a:xfrm>
                <a:off x="4674654" y="3815394"/>
                <a:ext cx="2030299" cy="11194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3600"/>
                </a:pPr>
                <a:r>
                  <a:rPr lang="es-MX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Rectángulo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654" y="3815394"/>
                <a:ext cx="2030299" cy="1119409"/>
              </a:xfrm>
              <a:prstGeom prst="rect">
                <a:avLst/>
              </a:prstGeom>
              <a:blipFill rotWithShape="0">
                <a:blip r:embed="rId8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ángulo 18"/>
              <p:cNvSpPr/>
              <p:nvPr/>
            </p:nvSpPr>
            <p:spPr>
              <a:xfrm>
                <a:off x="6944200" y="3823106"/>
                <a:ext cx="2411814" cy="11185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3600"/>
                </a:pPr>
                <a:r>
                  <a:rPr lang="es-MX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s-MX" b="1" i="1" smtClean="0">
                                                      <a:solidFill>
                                                        <a:schemeClr val="accent3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s-NI" b="1" i="1" smtClean="0">
                                                      <a:solidFill>
                                                        <a:schemeClr val="accent3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Arial" panose="020B0604020202020204" pitchFamily="34" charset="0"/>
                                                      </a:rPr>
                                                      <m:t>𝟏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s-NI" b="1" i="1" smtClean="0">
                                                      <a:solidFill>
                                                        <a:schemeClr val="accent3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𝟎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𝟏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s-NI" b="1" i="1" smtClean="0">
                                                      <a:solidFill>
                                                        <a:schemeClr val="accent3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𝟎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es-NI" b="1" i="1" smtClean="0">
                                                        <a:solidFill>
                                                          <a:schemeClr val="accent3">
                                                            <a:lumMod val="50000"/>
                                                          </a:schemeClr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𝟎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9" name="Rectángulo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200" y="3823106"/>
                <a:ext cx="2411814" cy="1118511"/>
              </a:xfrm>
              <a:prstGeom prst="rect">
                <a:avLst/>
              </a:prstGeom>
              <a:blipFill rotWithShape="0">
                <a:blip r:embed="rId9"/>
                <a:stretch>
                  <a:fillRect l="-202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ángulo 19"/>
          <p:cNvSpPr/>
          <p:nvPr/>
        </p:nvSpPr>
        <p:spPr>
          <a:xfrm>
            <a:off x="0" y="5145209"/>
            <a:ext cx="121888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los </a:t>
            </a:r>
            <a:r>
              <a:rPr lang="es-NI" altLang="es-E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ejercicios, aplique la reducción por filas a las matrices para llevarlas a la forma escalonada reducida. En las matrices original y final encierre en un circulo las posiciones pivote, e indique las columnas pivote.</a:t>
            </a:r>
            <a:endParaRPr lang="es-ES" b="1" dirty="0" smtClean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ángulo 20"/>
              <p:cNvSpPr/>
              <p:nvPr/>
            </p:nvSpPr>
            <p:spPr>
              <a:xfrm>
                <a:off x="130152" y="6037401"/>
                <a:ext cx="2084032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3600"/>
                </a:pPr>
                <a:r>
                  <a:rPr lang="es-MX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a)</a:t>
                </a:r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𝟒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𝟔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𝟒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𝟔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𝟗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𝟖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𝟖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" name="Rectá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52" y="6037401"/>
                <a:ext cx="2084032" cy="824906"/>
              </a:xfrm>
              <a:prstGeom prst="rect">
                <a:avLst/>
              </a:prstGeom>
              <a:blipFill rotWithShape="0">
                <a:blip r:embed="rId10"/>
                <a:stretch>
                  <a:fillRect l="-23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ángulo 21"/>
              <p:cNvSpPr/>
              <p:nvPr/>
            </p:nvSpPr>
            <p:spPr>
              <a:xfrm>
                <a:off x="2937865" y="6037401"/>
                <a:ext cx="2032736" cy="8487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Bef>
                    <a:spcPts val="0"/>
                  </a:spcBef>
                  <a:buClr>
                    <a:srgbClr val="3F3F3F"/>
                  </a:buClr>
                  <a:buSzPts val="3600"/>
                </a:pPr>
                <a:r>
                  <a:rPr lang="es-MX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b)</a:t>
                </a:r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MX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𝟐</m:t>
                                  </m:r>
                                </m:e>
                                <m:e>
                                  <m:r>
                                    <a:rPr lang="es-NI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𝟐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𝟒</m:t>
                                        </m:r>
                                      </m:e>
                                      <m:e>
                                        <m:r>
                                          <a:rPr lang="es-NI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MX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𝟒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𝟓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𝟒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MX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𝟓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𝟒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b="1" i="1" smtClean="0">
                                                  <a:solidFill>
                                                    <a:schemeClr val="accent3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MX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MX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2" name="Rectá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865" y="6037401"/>
                <a:ext cx="2032736" cy="848758"/>
              </a:xfrm>
              <a:prstGeom prst="rect">
                <a:avLst/>
              </a:prstGeom>
              <a:blipFill rotWithShape="0">
                <a:blip r:embed="rId11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69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8" grpId="0"/>
      <p:bldP spid="4" grpId="0"/>
      <p:bldP spid="23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2688849" y="1354737"/>
            <a:ext cx="51887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 </a:t>
            </a:r>
            <a:r>
              <a:rPr lang="es-NI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BIBLIOGRÁFICAS </a:t>
            </a:r>
            <a:endParaRPr lang="es-ES" sz="24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0" y="2127949"/>
            <a:ext cx="121920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Obligatorio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Grossman, S., &amp; Flores Godoy, J. (2019). </a:t>
            </a:r>
            <a:r>
              <a:rPr lang="en-US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Álgebra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lineal (8.ª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Lay, D. C. (2012). Álgebra lineal y sus aplicaciones (4.ª ed.). Pearson Educación.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Optativos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Chapra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S. C., &amp;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Canale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R. P. (2015). Métodos numéricos para ingenieros (7.ª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D. (2011). Álgebra lineal: Una introducción moderna (3.ª ed.).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1037</Words>
  <Application>Microsoft Office PowerPoint</Application>
  <PresentationFormat>Panorámica</PresentationFormat>
  <Paragraphs>133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9" baseType="lpstr">
      <vt:lpstr>Arial</vt:lpstr>
      <vt:lpstr>Calibri</vt:lpstr>
      <vt:lpstr>Cambria</vt:lpstr>
      <vt:lpstr>Cambria Math</vt:lpstr>
      <vt:lpstr>Franklin Gothic Book</vt:lpstr>
      <vt:lpstr>Franklin Gothic Medium</vt:lpstr>
      <vt:lpstr>Franklin Gothic Std No. 2 Roman</vt:lpstr>
      <vt:lpstr>Times New Roman</vt:lpstr>
      <vt:lpstr>Wingdings</vt:lpstr>
      <vt:lpstr>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Gloria Cordero</dc:creator>
  <cp:lastModifiedBy>Cuenta Microsoft</cp:lastModifiedBy>
  <cp:revision>319</cp:revision>
  <dcterms:created xsi:type="dcterms:W3CDTF">2019-03-11T22:56:00Z</dcterms:created>
  <dcterms:modified xsi:type="dcterms:W3CDTF">2026-08-26T14:57:49Z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C911661876A5449E9A5DDAC7474286A0_12</vt:lpwstr>
  </property>
  <property fmtid="{D5CDD505-2E9C-101B-9397-08002B2CF9AE}" pid="3" name="KSOProductBuildVer">
    <vt:lpwstr>3082-12.2.0.22549</vt:lpwstr>
  </property>
</Properties>
</file>