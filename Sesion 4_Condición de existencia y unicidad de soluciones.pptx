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6" r:id="rId2"/>
  </p:sldMasterIdLst>
  <p:handoutMasterIdLst>
    <p:handoutMasterId r:id="rId11"/>
  </p:handoutMasterIdLst>
  <p:sldIdLst>
    <p:sldId id="371" r:id="rId3"/>
    <p:sldId id="380" r:id="rId4"/>
    <p:sldId id="391" r:id="rId5"/>
    <p:sldId id="392" r:id="rId6"/>
    <p:sldId id="393" r:id="rId7"/>
    <p:sldId id="394" r:id="rId8"/>
    <p:sldId id="379" r:id="rId9"/>
    <p:sldId id="372" r:id="rId10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C20"/>
    <a:srgbClr val="D71920"/>
    <a:srgbClr val="C8B160"/>
    <a:srgbClr val="0099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2475" autoAdjust="0"/>
  </p:normalViewPr>
  <p:slideViewPr>
    <p:cSldViewPr snapToGrid="0">
      <p:cViewPr varScale="1">
        <p:scale>
          <a:sx n="74" d="100"/>
          <a:sy n="74" d="100"/>
        </p:scale>
        <p:origin x="67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7612F-F4F6-49E7-9E06-3D5220FEBB27}" type="datetimeFigureOut">
              <a:rPr lang="es-NI" smtClean="0"/>
              <a:t>21/8/2026</a:t>
            </a:fld>
            <a:endParaRPr lang="es-NI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84567-83D8-42DA-AC87-6626250FF122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383731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0" y="1709738"/>
            <a:ext cx="12192000" cy="514826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el estilo de texto del patrón</a:t>
            </a:r>
          </a:p>
        </p:txBody>
      </p:sp>
      <p:pic>
        <p:nvPicPr>
          <p:cNvPr id="4" name="Imagen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910"/>
            <a:ext cx="5306096" cy="141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48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editar el estilo de subtítulo del patrón</a:t>
            </a:r>
            <a:endParaRPr lang="es-NI" dirty="0"/>
          </a:p>
        </p:txBody>
      </p:sp>
      <p:sp>
        <p:nvSpPr>
          <p:cNvPr id="8" name="Rectángulo 7"/>
          <p:cNvSpPr/>
          <p:nvPr userDrawn="1"/>
        </p:nvSpPr>
        <p:spPr>
          <a:xfrm>
            <a:off x="0" y="-1"/>
            <a:ext cx="12192000" cy="1122364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533" y="-36372"/>
            <a:ext cx="2139467" cy="119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770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6921"/>
            <a:ext cx="1040946" cy="581472"/>
          </a:xfrm>
          <a:prstGeom prst="rect">
            <a:avLst/>
          </a:prstGeom>
        </p:spPr>
      </p:pic>
      <p:sp>
        <p:nvSpPr>
          <p:cNvPr id="8" name="Rectángulo 7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940911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6921"/>
            <a:ext cx="1040946" cy="58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89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 userDrawn="1"/>
        </p:nvSpPr>
        <p:spPr>
          <a:xfrm>
            <a:off x="0" y="6349284"/>
            <a:ext cx="12192000" cy="508715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455" y="2253803"/>
            <a:ext cx="7187089" cy="191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885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0" y="1709738"/>
            <a:ext cx="12192000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>
                <a:solidFill>
                  <a:srgbClr val="ED7D31"/>
                </a:solidFill>
              </a:rPr>
              <a:t>i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el estilo de texto del patrón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CC336EF7-610B-4077-BC53-E3B99A75B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06" y="164707"/>
            <a:ext cx="5145908" cy="151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543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editar el estilo de subtítulo del patrón</a:t>
            </a:r>
            <a:endParaRPr lang="es-NI" dirty="0"/>
          </a:p>
        </p:txBody>
      </p:sp>
      <p:sp>
        <p:nvSpPr>
          <p:cNvPr id="8" name="Rectángulo 7"/>
          <p:cNvSpPr/>
          <p:nvPr userDrawn="1"/>
        </p:nvSpPr>
        <p:spPr>
          <a:xfrm>
            <a:off x="0" y="-1"/>
            <a:ext cx="12192000" cy="11223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490" y="-36372"/>
            <a:ext cx="2139467" cy="119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-380"/>
            <a:ext cx="1040946" cy="581472"/>
          </a:xfrm>
          <a:prstGeom prst="rect">
            <a:avLst/>
          </a:prstGeom>
        </p:spPr>
      </p:pic>
      <p:sp>
        <p:nvSpPr>
          <p:cNvPr id="8" name="Rectángulo 7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040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-380"/>
            <a:ext cx="1040946" cy="58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59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 userDrawn="1"/>
        </p:nvSpPr>
        <p:spPr>
          <a:xfrm>
            <a:off x="0" y="6349284"/>
            <a:ext cx="12192000" cy="5087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xmlns="" id="{07F2B092-7FED-48DD-95ED-8018A1BF40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841" y="2276388"/>
            <a:ext cx="7814318" cy="230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27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4044447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0" r:id="rId3"/>
    <p:sldLayoutId id="2147483652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078753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914473" y="4346647"/>
            <a:ext cx="6390291" cy="769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04704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NI" altLang="es-NI" sz="3000" b="1" dirty="0">
                <a:solidFill>
                  <a:prstClr val="white"/>
                </a:solidFill>
                <a:latin typeface="Cambria" pitchFamily="18" charset="0"/>
                <a:cs typeface="Arial" pitchFamily="34" charset="0"/>
              </a:rPr>
              <a:t>José Andrés Munguía Cortez </a:t>
            </a:r>
            <a:endParaRPr lang="es-MX" altLang="es-NI" sz="3000" b="1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3701737" y="2985575"/>
            <a:ext cx="6815762" cy="1569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NI" sz="4800" dirty="0">
                <a:solidFill>
                  <a:prstClr val="white">
                    <a:lumMod val="95000"/>
                  </a:prstClr>
                </a:solidFill>
              </a:rPr>
              <a:t>ALGEBRA LINEAL</a:t>
            </a:r>
            <a:endParaRPr lang="es-ES_tradnl" sz="4800" b="1" dirty="0">
              <a:ln w="12700">
                <a:solidFill>
                  <a:srgbClr val="5B9BD5"/>
                </a:solidFill>
                <a:prstDash val="solid"/>
              </a:ln>
              <a:solidFill>
                <a:prstClr val="white">
                  <a:lumMod val="9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Franklin Gothic Std No. 2 Roman" charset="0"/>
              <a:cs typeface="Franklin Gothic Std No. 2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5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1" y="0"/>
            <a:ext cx="12191999" cy="10673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800" b="1" dirty="0">
                <a:solidFill>
                  <a:schemeClr val="bg1"/>
                </a:solidFill>
              </a:rPr>
              <a:t>UNIDAD I  </a:t>
            </a:r>
            <a:r>
              <a:rPr lang="es-NI" sz="2800" b="1" dirty="0">
                <a:solidFill>
                  <a:schemeClr val="bg1"/>
                </a:solidFill>
              </a:rPr>
              <a:t>ECUACIONES LINEALES EN ALGEBRA LINEAL</a:t>
            </a:r>
            <a:endParaRPr lang="es-ES" sz="2800" b="1" dirty="0">
              <a:solidFill>
                <a:schemeClr val="bg1"/>
              </a:solidFill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-1" y="4921690"/>
            <a:ext cx="709625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NI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Condición </a:t>
            </a:r>
            <a:r>
              <a:rPr lang="es-NI" sz="21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existencia y unicidad de </a:t>
            </a:r>
            <a:r>
              <a:rPr lang="es-NI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soluciones</a:t>
            </a:r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0" y="4332806"/>
            <a:ext cx="117370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100" b="1" dirty="0" smtClean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Tema:</a:t>
            </a:r>
            <a:endParaRPr lang="es-MX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xmlns="" id="{BEDC9815-F0C1-482A-6358-60E18067B02A}"/>
              </a:ext>
            </a:extLst>
          </p:cNvPr>
          <p:cNvSpPr/>
          <p:nvPr/>
        </p:nvSpPr>
        <p:spPr>
          <a:xfrm>
            <a:off x="0" y="5520513"/>
            <a:ext cx="3670479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NI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100" b="1" dirty="0" smtClean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Resultado </a:t>
            </a:r>
            <a:r>
              <a:rPr lang="es-ES" sz="21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aprendizaje:</a:t>
            </a:r>
            <a:endParaRPr lang="es-MX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xmlns="" id="{43D405EC-BAE1-F14C-A3F2-F53B48964F62}"/>
              </a:ext>
            </a:extLst>
          </p:cNvPr>
          <p:cNvSpPr/>
          <p:nvPr/>
        </p:nvSpPr>
        <p:spPr>
          <a:xfrm>
            <a:off x="1" y="6119336"/>
            <a:ext cx="12192000" cy="7386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NI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NI" sz="21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Resuelve sistemas de ecuaciones lineales mediante métodos algebraicos y matriciales, aplicando los pasos lógicos en la solución de problemas matemáticos.</a:t>
            </a:r>
            <a:endParaRPr lang="es-MX" sz="21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067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contenido 2"/>
          <p:cNvSpPr txBox="1">
            <a:spLocks/>
          </p:cNvSpPr>
          <p:nvPr/>
        </p:nvSpPr>
        <p:spPr>
          <a:xfrm>
            <a:off x="0" y="1167764"/>
            <a:ext cx="4649274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Definición: </a:t>
            </a:r>
            <a:r>
              <a:rPr lang="es-MX" sz="22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Existencia y Unicidad</a:t>
            </a:r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0" y="1622738"/>
                <a:ext cx="121920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Cuando 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 sistema está en forma escalonada y no contiene ecuaciones del tipo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con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diferente de cero, entonces cada ecuación no nula tiene una variable básica con un coeficiente distinto de cero</a:t>
                </a:r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22738"/>
                <a:ext cx="12192000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450" t="-2395" r="-500" b="-1018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ángulo 7"/>
          <p:cNvSpPr/>
          <p:nvPr/>
        </p:nvSpPr>
        <p:spPr>
          <a:xfrm>
            <a:off x="0" y="2741053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3F3F3F"/>
              </a:buClr>
              <a:buSzPts val="2400"/>
              <a:buFont typeface="Arial" panose="020B0604020202020204" pitchFamily="34" charset="0"/>
              <a:buChar char="•"/>
            </a:pP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variables básicas están completamente determinadas (sin variables libres), existe una solución única.</a:t>
            </a:r>
          </a:p>
        </p:txBody>
      </p:sp>
      <p:sp>
        <p:nvSpPr>
          <p:cNvPr id="9" name="Rectángulo 8"/>
          <p:cNvSpPr/>
          <p:nvPr/>
        </p:nvSpPr>
        <p:spPr>
          <a:xfrm>
            <a:off x="0" y="3551591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3F3F3F"/>
              </a:buClr>
              <a:buSzPts val="2400"/>
              <a:buFont typeface="Arial" panose="020B0604020202020204" pitchFamily="34" charset="0"/>
              <a:buChar char="•"/>
            </a:pP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al menos una de las variables básicas puede expresarse en términos de una o más variables libres, hay infinidad de soluciones (una para cada asignación de valores a las variables libres).</a:t>
            </a:r>
          </a:p>
        </p:txBody>
      </p:sp>
    </p:spTree>
    <p:extLst>
      <p:ext uri="{BB962C8B-B14F-4D97-AF65-F5344CB8AC3E}">
        <p14:creationId xmlns:p14="http://schemas.microsoft.com/office/powerpoint/2010/main" val="1335973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contenido 2"/>
          <p:cNvSpPr txBox="1">
            <a:spLocks/>
          </p:cNvSpPr>
          <p:nvPr/>
        </p:nvSpPr>
        <p:spPr>
          <a:xfrm>
            <a:off x="0" y="1167764"/>
            <a:ext cx="4649274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Teorema: </a:t>
            </a:r>
            <a:r>
              <a:rPr lang="es-ES" sz="22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2200" b="1" dirty="0" err="1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xistencia</a:t>
            </a:r>
            <a:r>
              <a:rPr lang="es-MX" sz="22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Unicidad</a:t>
            </a:r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0" y="1622738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buClr>
                <a:srgbClr val="3F3F3F"/>
              </a:buClr>
              <a:buSzPts val="2800"/>
            </a:pP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lineal es consistente si y solo si la columna más a la derecha de la matriz aumentada no es una columna pivote, es decir, si y solo si una forma escalonada de la matriz aumentada no tiene filas del tipo</a:t>
            </a:r>
          </a:p>
        </p:txBody>
      </p:sp>
      <p:sp>
        <p:nvSpPr>
          <p:cNvPr id="8" name="Rectángulo 7"/>
          <p:cNvSpPr/>
          <p:nvPr/>
        </p:nvSpPr>
        <p:spPr>
          <a:xfrm>
            <a:off x="0" y="3256208"/>
            <a:ext cx="94273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3F3F3F"/>
              </a:buClr>
              <a:buSzPts val="2800"/>
            </a:pP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sistema lineal es consistente, entonces el conjunto solución contiene: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/>
              <p:cNvSpPr/>
              <p:nvPr/>
            </p:nvSpPr>
            <p:spPr>
              <a:xfrm>
                <a:off x="2161164" y="2693265"/>
                <a:ext cx="162179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 dirty="0" smtClean="0">
                          <a:latin typeface="Cambria Math" panose="02040503050406030204" pitchFamily="18" charset="0"/>
                        </a:rPr>
                        <m:t>[0 0 0 0 0 </m:t>
                      </m:r>
                      <m:r>
                        <a:rPr lang="es-MX" sz="200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s-MX" sz="2000" i="1" dirty="0" smtClean="0">
                          <a:latin typeface="Cambria Math" panose="02040503050406030204" pitchFamily="18" charset="0"/>
                        </a:rPr>
                        <m:t>] 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164" y="2693265"/>
                <a:ext cx="1621791" cy="400110"/>
              </a:xfrm>
              <a:prstGeom prst="rect">
                <a:avLst/>
              </a:prstGeom>
              <a:blipFill rotWithShape="0">
                <a:blip r:embed="rId2"/>
                <a:stretch>
                  <a:fillRect b="-1692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3616818" y="2693265"/>
                <a:ext cx="309307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rgbClr val="3F3F3F"/>
                  </a:buClr>
                  <a:buSzPts val="2800"/>
                </a:pP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diferente de cero</a:t>
                </a:r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818" y="2693265"/>
                <a:ext cx="3093075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1969" t="-7692" b="-2923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ángulo 9"/>
          <p:cNvSpPr/>
          <p:nvPr/>
        </p:nvSpPr>
        <p:spPr>
          <a:xfrm>
            <a:off x="0" y="3711182"/>
            <a:ext cx="73924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3F3F3F"/>
              </a:buClr>
              <a:buSzPts val="2800"/>
            </a:pPr>
            <a:r>
              <a:rPr lang="es-MX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</a:t>
            </a: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única solución, cuando no existen variables libres, o 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0" y="4166156"/>
            <a:ext cx="89894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3F3F3F"/>
              </a:buClr>
              <a:buSzPts val="2800"/>
            </a:pPr>
            <a:r>
              <a:rPr lang="es-MX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 </a:t>
            </a: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infinidad de soluciones, cuando hay al menos una variable libre.</a:t>
            </a:r>
          </a:p>
        </p:txBody>
      </p:sp>
    </p:spTree>
    <p:extLst>
      <p:ext uri="{BB962C8B-B14F-4D97-AF65-F5344CB8AC3E}">
        <p14:creationId xmlns:p14="http://schemas.microsoft.com/office/powerpoint/2010/main" val="2041192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contenido 2"/>
          <p:cNvSpPr txBox="1">
            <a:spLocks/>
          </p:cNvSpPr>
          <p:nvPr/>
        </p:nvSpPr>
        <p:spPr>
          <a:xfrm>
            <a:off x="0" y="1167764"/>
            <a:ext cx="7753082" cy="4549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Uso de la reducción por filas para resolver un sistema lineal</a:t>
            </a:r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1" y="1651511"/>
            <a:ext cx="5486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buClr>
                <a:srgbClr val="3F3F3F"/>
              </a:buClr>
              <a:buSzPct val="100000"/>
            </a:pPr>
            <a:r>
              <a:rPr lang="es-MX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Escriba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matriz aumentada del sistema.</a:t>
            </a:r>
          </a:p>
        </p:txBody>
      </p:sp>
      <p:sp>
        <p:nvSpPr>
          <p:cNvPr id="13" name="Rectángulo 12"/>
          <p:cNvSpPr/>
          <p:nvPr/>
        </p:nvSpPr>
        <p:spPr>
          <a:xfrm>
            <a:off x="0" y="2080394"/>
            <a:ext cx="121919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3F3F3F"/>
              </a:buClr>
              <a:buSzPct val="100000"/>
            </a:pPr>
            <a:r>
              <a:rPr lang="es-MX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Emplee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algoritmo de reducción por filas para obtener una matriz aumentada equivalente en forma escalonada. Determine si el sistema es consistente o no. Si no existe solución, deténgase; en caso contrario, continúe con el siguiente paso.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2" y="3124830"/>
            <a:ext cx="99553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3F3F3F"/>
              </a:buClr>
              <a:buSzPct val="100000"/>
            </a:pPr>
            <a:r>
              <a:rPr lang="es-MX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Prosiga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la reducción por filas para obtener la forma escalonada reducida.</a:t>
            </a:r>
          </a:p>
        </p:txBody>
      </p:sp>
      <p:sp>
        <p:nvSpPr>
          <p:cNvPr id="15" name="Rectángulo 14"/>
          <p:cNvSpPr/>
          <p:nvPr/>
        </p:nvSpPr>
        <p:spPr>
          <a:xfrm>
            <a:off x="2" y="3553713"/>
            <a:ext cx="106637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3F3F3F"/>
              </a:buClr>
              <a:buSzPct val="100000"/>
            </a:pPr>
            <a:r>
              <a:rPr lang="es-MX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Escriba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sistema de ecuaciones correspondiente a la matriz obtenida en </a:t>
            </a: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paso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</a:p>
        </p:txBody>
      </p:sp>
      <p:sp>
        <p:nvSpPr>
          <p:cNvPr id="16" name="Rectángulo 15"/>
          <p:cNvSpPr/>
          <p:nvPr/>
        </p:nvSpPr>
        <p:spPr>
          <a:xfrm>
            <a:off x="1" y="3982596"/>
            <a:ext cx="1219199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3F3F3F"/>
              </a:buClr>
              <a:buSzPct val="100000"/>
            </a:pPr>
            <a:r>
              <a:rPr lang="es-MX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Re-escriba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 ecuación no nula del paso 4 de manera que su única variable básica se exprese en términos de cualquiera de las variables libres que aparecen en la ecuación.</a:t>
            </a:r>
          </a:p>
        </p:txBody>
      </p:sp>
    </p:spTree>
    <p:extLst>
      <p:ext uri="{BB962C8B-B14F-4D97-AF65-F5344CB8AC3E}">
        <p14:creationId xmlns:p14="http://schemas.microsoft.com/office/powerpoint/2010/main" val="3341419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contenido 2"/>
          <p:cNvSpPr txBox="1">
            <a:spLocks/>
          </p:cNvSpPr>
          <p:nvPr/>
        </p:nvSpPr>
        <p:spPr>
          <a:xfrm>
            <a:off x="3116688" y="1196537"/>
            <a:ext cx="5331854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Actividad: Ejercicios para Asignación</a:t>
            </a: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0" y="1857573"/>
            <a:ext cx="96462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buClr>
                <a:srgbClr val="3F3F3F"/>
              </a:buClr>
              <a:buSzPct val="100000"/>
            </a:pPr>
            <a:r>
              <a:rPr lang="es-MX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Encuentre la solución general del sistema lineal cuya matriz aumentada es</a:t>
            </a:r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4363791" y="2463745"/>
                <a:ext cx="2088524" cy="6101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0"/>
                  </a:spcBef>
                  <a:buClr>
                    <a:srgbClr val="3F3F3F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MX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MX" sz="20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20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NI" sz="20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𝟑</m:t>
                                          </m:r>
                                        </m:e>
                                        <m:e>
                                          <m:r>
                                            <a:rPr lang="es-NI" b="1" i="1" smtClean="0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MX" sz="20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20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20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NI" sz="20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𝟓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20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20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𝟑</m:t>
                                                </m:r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791" y="2463745"/>
                <a:ext cx="2088524" cy="61010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ángulo 11"/>
          <p:cNvSpPr/>
          <p:nvPr/>
        </p:nvSpPr>
        <p:spPr>
          <a:xfrm>
            <a:off x="0" y="3322427"/>
            <a:ext cx="53447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buClr>
                <a:srgbClr val="3F3F3F"/>
              </a:buClr>
              <a:buSzPct val="100000"/>
            </a:pPr>
            <a:r>
              <a:rPr lang="es-MX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MX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Obtenga la solución general del sistema</a:t>
            </a:r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/>
              <p:cNvSpPr/>
              <p:nvPr/>
            </p:nvSpPr>
            <p:spPr>
              <a:xfrm>
                <a:off x="4363791" y="3884844"/>
                <a:ext cx="3322748" cy="9766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0"/>
                  </a:spcBef>
                  <a:buClr>
                    <a:srgbClr val="3F3F3F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MX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MX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s-MX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s-NI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s-NI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NI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s-NI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s-NI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s-NI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NI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s-NI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s-NI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s-NI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  <m:sSub>
                                <m:sSubPr>
                                  <m:ctrlPr>
                                    <a:rPr lang="es-NI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s-NI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s-NI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s-NI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s-MX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s-NI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𝟐</m:t>
                                  </m:r>
                                  <m:r>
                                    <a:rPr lang="es-NI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s-NI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s-NI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s-NI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𝟒</m:t>
                              </m:r>
                              <m:sSub>
                                <m:sSubPr>
                                  <m:ctrlPr>
                                    <a:rPr lang="es-NI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s-NI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s-NI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s-NI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𝟓</m:t>
                              </m:r>
                              <m:sSub>
                                <m:sSubPr>
                                  <m:ctrlPr>
                                    <a:rPr lang="es-NI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s-NI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s-NI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NI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𝟓</m:t>
                              </m:r>
                              <m:sSub>
                                <m:sSubPr>
                                  <m:ctrlPr>
                                    <a:rPr lang="es-NI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s-NI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s-NI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s-NI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s-MX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𝟑</m:t>
                                  </m:r>
                                  <m:r>
                                    <a:rPr lang="es-NI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s-NI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s-NI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NI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𝟔</m:t>
                              </m:r>
                              <m:sSub>
                                <m:sSubPr>
                                  <m:ctrlPr>
                                    <a:rPr lang="es-NI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s-NI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s-NI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NI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𝟔</m:t>
                              </m:r>
                              <m:sSub>
                                <m:sSubPr>
                                  <m:ctrlPr>
                                    <a:rPr lang="es-NI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s-NI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s-NI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s-NI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𝟖</m:t>
                              </m:r>
                              <m:sSub>
                                <m:sSubPr>
                                  <m:ctrlPr>
                                    <a:rPr lang="es-NI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s-NI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s-NI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s-NI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Rectángulo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791" y="3884844"/>
                <a:ext cx="3322748" cy="97661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8573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  <p:bldP spid="9" grpId="0"/>
      <p:bldP spid="12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2688849" y="1354737"/>
            <a:ext cx="51887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b="1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REFERENCIAS </a:t>
            </a:r>
            <a:r>
              <a:rPr lang="es-NI" sz="2400" b="1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BIBLIOGRÁFICAS </a:t>
            </a:r>
            <a:endParaRPr lang="es-ES" sz="24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0" y="2127949"/>
            <a:ext cx="1219200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NI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Textos Obligatorio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Grossman, S., &amp; Flores Godoy, J. (2019). </a:t>
            </a:r>
            <a:r>
              <a:rPr lang="en-US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Álgebra</a:t>
            </a: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lineal (8.ª ed.). McGraw-Hill.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Lay, D. C. (2012). Álgebra lineal y sus aplicaciones (4.ª ed.). Pearson Educación.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419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NI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Textos Optativos</a:t>
            </a: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Chapra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S. C., &amp; </a:t>
            </a: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Canale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R. P. (2015). Métodos numéricos para ingenieros (7.ª ed.). McGraw-Hill.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Poole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D. (2011). Álgebra lineal: Una introducción moderna (3.ª ed.). </a:t>
            </a: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Cengage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633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56356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e Office">
  <a:themeElements>
    <a:clrScheme name="Personalizados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1978</TotalTime>
  <Words>451</Words>
  <Application>Microsoft Office PowerPoint</Application>
  <PresentationFormat>Panorámica</PresentationFormat>
  <Paragraphs>46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8</vt:i4>
      </vt:variant>
    </vt:vector>
  </HeadingPairs>
  <TitlesOfParts>
    <vt:vector size="18" baseType="lpstr">
      <vt:lpstr>Arial</vt:lpstr>
      <vt:lpstr>Calibri</vt:lpstr>
      <vt:lpstr>Cambria</vt:lpstr>
      <vt:lpstr>Cambria Math</vt:lpstr>
      <vt:lpstr>Franklin Gothic Book</vt:lpstr>
      <vt:lpstr>Franklin Gothic Medium</vt:lpstr>
      <vt:lpstr>Franklin Gothic Std No. 2 Roman</vt:lpstr>
      <vt:lpstr>Times New Roman</vt:lpstr>
      <vt:lpstr>Tema de Office</vt:lpstr>
      <vt:lpstr>2_Tema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Gloria Cordero</dc:creator>
  <cp:lastModifiedBy>Cuenta Microsoft</cp:lastModifiedBy>
  <cp:revision>255</cp:revision>
  <dcterms:created xsi:type="dcterms:W3CDTF">2019-03-11T22:56:21Z</dcterms:created>
  <dcterms:modified xsi:type="dcterms:W3CDTF">2026-08-22T02:40:32Z</dcterms:modified>
</cp:coreProperties>
</file>